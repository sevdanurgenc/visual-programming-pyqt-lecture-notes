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-457200"/>
            <a:ext cx="2377440" cy="237744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3566160"/>
            <a:ext cx="1371600" cy="137160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1920240"/>
            <a:ext cx="731520" cy="73152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0" y="4389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29400" y="11430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29400" y="18470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29400" y="255117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29400" y="325526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29400" y="39593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/ ORDER BY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411480"/>
            <a:ext cx="3108960" cy="347472"/>
          </a:xfrm>
          <a:prstGeom prst="rect">
            <a:avLst/>
          </a:prstGeom>
          <a:solidFill>
            <a:srgbClr val="F59E0B">
              <a:alpha val="7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4114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PROGRAMLAMA  (PyQt)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9144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0040" y="132588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ile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20040" y="194767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Temelleri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320040" y="2761488"/>
            <a:ext cx="3108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9077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0040" y="33375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Bağlantı  ·  CREATE TABLE  ·  INSERT  ·  SELECT  ·  UPDATE  ·  DELETE  ·  WHERE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D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Nedir?  —  Bağlantı Kurma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3794760"/>
          </a:xfrm>
          <a:prstGeom prst="rect">
            <a:avLst/>
          </a:prstGeom>
          <a:solidFill>
            <a:srgbClr val="152438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15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Nedir?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 gerektirmeyen, tek dosya bazlı, hafif ve hızlı bir ilişkisel veritabanı motorudur. Python ile birlikte gelir — ek kurulum gerekmez!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4023360" cy="30175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2286000"/>
            <a:ext cx="54864" cy="3017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3134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 yok — tek .db dosyası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651760"/>
            <a:ext cx="4023360" cy="30175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2651760"/>
            <a:ext cx="54864" cy="3017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6791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ile gömülü gelir (sqlite3 modülü)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4023360" cy="30175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3017520"/>
            <a:ext cx="54864" cy="3017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0449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&amp; masaüstü uygulamalar için ideal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383280"/>
            <a:ext cx="4023360" cy="30175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3383280"/>
            <a:ext cx="54864" cy="3017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34107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uyumlu (güvenli işlemler)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749040"/>
            <a:ext cx="4023360" cy="30175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3749040"/>
            <a:ext cx="54864" cy="30175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37764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milyon cihazda kullanılıyor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4206240" cy="3794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005840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 Kurma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1426464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sqlite3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73752" y="1635062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73752" y="1843659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Diske kayıtlı DB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73752" y="2052257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sqlite3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.connect(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"okul.db"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73752" y="2260854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73752" y="2469452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Bellekte geçici DB (test için)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73752" y="2678049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sqlite3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.connect(":memory:")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73752" y="2886647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73752" y="3095244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Cursor oluştur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73752" y="3303842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.cursor()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73752" y="3512439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73752" y="3721037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ÖNERİLEN — context manager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73752" y="3929634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sqlite3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.connect(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"okul.db"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db: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73752" y="4138232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cursor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.cursor()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73752" y="4346829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.execute(sql)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73752" y="4555427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.commit()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— Tablo Oluşturma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3794760"/>
          </a:xfrm>
          <a:prstGeom prst="rect">
            <a:avLst/>
          </a:prstGeom>
          <a:solidFill>
            <a:srgbClr val="152438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15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Tipleri &amp; Kısıtlar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4023360" cy="329184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481328"/>
            <a:ext cx="54864" cy="3291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087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1517904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sayı (id, yaş, bool→0/1)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865376"/>
            <a:ext cx="4023360" cy="329184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1865376"/>
            <a:ext cx="54864" cy="3291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18928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1901952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(ad, email, kategori)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249424"/>
            <a:ext cx="4023360" cy="329184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2249424"/>
            <a:ext cx="54864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2768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2286000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Ondalıklı (GPA, fiyat)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633472"/>
            <a:ext cx="4023360" cy="329184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2633472"/>
            <a:ext cx="54864" cy="3291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26609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63040" y="2670048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veri (resim, dosya)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017520"/>
            <a:ext cx="4023360" cy="329184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3017520"/>
            <a:ext cx="54864" cy="32918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3044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3054096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 / tanımsız değer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34564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Kısıtlar (Constraints):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1920240" cy="237744"/>
          </a:xfrm>
          <a:prstGeom prst="rect">
            <a:avLst/>
          </a:prstGeom>
          <a:solidFill>
            <a:srgbClr val="070D19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767328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 — Benzersiz kimlik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377440" y="3749040"/>
            <a:ext cx="1920240" cy="237744"/>
          </a:xfrm>
          <a:prstGeom prst="rect">
            <a:avLst/>
          </a:prstGeom>
          <a:solidFill>
            <a:srgbClr val="070D19"/>
          </a:solidFill>
          <a:ln/>
        </p:spPr>
      </p:sp>
      <p:sp>
        <p:nvSpPr>
          <p:cNvPr id="32" name="Text 30"/>
          <p:cNvSpPr/>
          <p:nvPr/>
        </p:nvSpPr>
        <p:spPr>
          <a:xfrm>
            <a:off x="2423160" y="3767328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AUTOINCREMENT — Otomatik artan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023360"/>
            <a:ext cx="1920240" cy="237744"/>
          </a:xfrm>
          <a:prstGeom prst="rect">
            <a:avLst/>
          </a:prstGeom>
          <a:solidFill>
            <a:srgbClr val="070D19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041648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 — Boş bırakılamaz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377440" y="4023360"/>
            <a:ext cx="1920240" cy="237744"/>
          </a:xfrm>
          <a:prstGeom prst="rect">
            <a:avLst/>
          </a:prstGeom>
          <a:solidFill>
            <a:srgbClr val="070D19"/>
          </a:solidFill>
          <a:ln/>
        </p:spPr>
      </p:sp>
      <p:sp>
        <p:nvSpPr>
          <p:cNvPr id="36" name="Text 34"/>
          <p:cNvSpPr/>
          <p:nvPr/>
        </p:nvSpPr>
        <p:spPr>
          <a:xfrm>
            <a:off x="2423160" y="4041648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— Tekrar edemez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297680"/>
            <a:ext cx="1920240" cy="237744"/>
          </a:xfrm>
          <a:prstGeom prst="rect">
            <a:avLst/>
          </a:prstGeom>
          <a:solidFill>
            <a:srgbClr val="070D19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4315968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değer — Varsayılan değer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377440" y="4297680"/>
            <a:ext cx="1920240" cy="237744"/>
          </a:xfrm>
          <a:prstGeom prst="rect">
            <a:avLst/>
          </a:prstGeom>
          <a:solidFill>
            <a:srgbClr val="070D19"/>
          </a:solidFill>
          <a:ln/>
        </p:spPr>
      </p:sp>
      <p:sp>
        <p:nvSpPr>
          <p:cNvPr id="40" name="Text 38"/>
          <p:cNvSpPr/>
          <p:nvPr/>
        </p:nvSpPr>
        <p:spPr>
          <a:xfrm>
            <a:off x="2423160" y="4315968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 KEY — İlişkisel bağ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1005840"/>
            <a:ext cx="4206240" cy="3794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1005840"/>
            <a:ext cx="4206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4873752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Örneği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73752" y="1426464"/>
            <a:ext cx="3931920" cy="231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.execute(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73752" y="1683199"/>
            <a:ext cx="3931920" cy="231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 TABLE IF NOT EXISTS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73752" y="1939935"/>
            <a:ext cx="3931920" cy="231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ogrenciler (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73752" y="2196670"/>
            <a:ext cx="3931920" cy="231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     INTEGER PRIMARY KEY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73752" y="2453406"/>
            <a:ext cx="3931920" cy="231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AUTOINCREMENT,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73752" y="2710141"/>
            <a:ext cx="3931920" cy="231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     TEXT    NOT NULL,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73752" y="2966876"/>
            <a:ext cx="3931920" cy="231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soyad  TEXT    NOT NULL,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73752" y="3223612"/>
            <a:ext cx="3931920" cy="231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numara TEXT    UNIQUE NOT NULL,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873752" y="3480347"/>
            <a:ext cx="3931920" cy="231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bolum  TEXT,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873752" y="3737082"/>
            <a:ext cx="3931920" cy="231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gpa    REAL    DEFAULT 0.0,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873752" y="3993818"/>
            <a:ext cx="3931920" cy="231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aktif  INTEGER DEFAULT 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873752" y="4250553"/>
            <a:ext cx="3931920" cy="231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873752" y="4507289"/>
            <a:ext cx="3931920" cy="231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 &amp;  SELECT — Veri Ekleme ve Sorgulama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3794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— Veri Ekleme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⚠️ ? ile parametreli sorgu (güvenli!)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.execute(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47088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"INSERT INTO ogrenciler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048256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(ad, soyad, bolum, gpa)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249424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VALUES (?, ?, ?, ?)",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450592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"Ahmet"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"Yılmaz"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"BM"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3.45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651760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852928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.commit()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kaydet!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054096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255264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Çoklu ekleme — executemany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456432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[(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"BM"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,3.5), ...]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657600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.executemany(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sql, liste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858768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059936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Son eklenen id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261104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yeni_id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cursor</a:t>
            </a:r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.lastrowid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005840"/>
            <a:ext cx="4206240" cy="3794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005840"/>
            <a:ext cx="4206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097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— Sorgulama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1444752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Tümünü getir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645920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.execute("SELECT * FROM ogrenciler")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1847088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satirlar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cursor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.fetchall()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048256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249424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Tek satır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450592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.execute("SELECT * FROM o WHERE id=?", (1,))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651760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satir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cursor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.fetchone()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2852928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054096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WHERE filtresi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255264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.execute(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456432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* FROM ogrenciler WHERE bolum=?",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657600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"Bilgisayar"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3858768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4059936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4261104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Sıralama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4462272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.execute("SELECT * FROM o ORDER BY gpa DESC")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&amp; DELETE  +  Sorgulama Teknikleri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18288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— Güncelleme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.execute(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"UPDATE ogrenciler SET gpa=?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755648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WHERE id=?",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938528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304288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Kaç satır etkilendi?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487168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cursor</a:t>
            </a:r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.rowcount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926080"/>
            <a:ext cx="4206240" cy="18288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926080"/>
            <a:ext cx="42062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017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Silme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310128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.execute("DELETE FROM ogrenciler WHERE id=?", (5,))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493008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675888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ROLLBACK — geri 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858768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.rollback()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commit olmadıysa geri 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041648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224528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⚠️ Dikkat: WHERE olmadan tümü silinir!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407408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 FROM ogrenciler → HEPSİ SİLİNİR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005840"/>
            <a:ext cx="4206240" cy="3749040"/>
          </a:xfrm>
          <a:prstGeom prst="rect">
            <a:avLst/>
          </a:prstGeom>
          <a:solidFill>
            <a:srgbClr val="152438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005840"/>
            <a:ext cx="42062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115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Sorgulama Anahtar Kelimeleri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1481328"/>
            <a:ext cx="4023360" cy="25603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29" name="Shape 27"/>
          <p:cNvSpPr/>
          <p:nvPr/>
        </p:nvSpPr>
        <p:spPr>
          <a:xfrm>
            <a:off x="4800600" y="1481328"/>
            <a:ext cx="45720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149961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bolum = ?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78040" y="150876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Eşitlik filtresi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1792224"/>
            <a:ext cx="4023360" cy="25603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3" name="Shape 31"/>
          <p:cNvSpPr/>
          <p:nvPr/>
        </p:nvSpPr>
        <p:spPr>
          <a:xfrm>
            <a:off x="4800600" y="1792224"/>
            <a:ext cx="45720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18105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gpa &gt; 3.0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78040" y="181965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Sayısal karşılaştırma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2103120"/>
            <a:ext cx="4023360" cy="25603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7" name="Shape 35"/>
          <p:cNvSpPr/>
          <p:nvPr/>
        </p:nvSpPr>
        <p:spPr>
          <a:xfrm>
            <a:off x="4800600" y="2103120"/>
            <a:ext cx="4572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21214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gpa BETWEEN 3 AND 4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178040" y="213055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Aralık filtresi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2414016"/>
            <a:ext cx="4023360" cy="25603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41" name="Shape 39"/>
          <p:cNvSpPr/>
          <p:nvPr/>
        </p:nvSpPr>
        <p:spPr>
          <a:xfrm>
            <a:off x="4800600" y="2414016"/>
            <a:ext cx="4572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243230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ad LIKE '%ah%'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178040" y="244144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arama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2724912"/>
            <a:ext cx="4023360" cy="25603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45" name="Shape 43"/>
          <p:cNvSpPr/>
          <p:nvPr/>
        </p:nvSpPr>
        <p:spPr>
          <a:xfrm>
            <a:off x="4800600" y="2724912"/>
            <a:ext cx="45720" cy="25603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46" name="Text 44"/>
          <p:cNvSpPr/>
          <p:nvPr/>
        </p:nvSpPr>
        <p:spPr>
          <a:xfrm>
            <a:off x="4937760" y="27432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sehir IN ('Ankara','İzmir')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178040" y="275234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eşleşme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00600" y="3035808"/>
            <a:ext cx="4023360" cy="25603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49" name="Shape 47"/>
          <p:cNvSpPr/>
          <p:nvPr/>
        </p:nvSpPr>
        <p:spPr>
          <a:xfrm>
            <a:off x="4800600" y="3035808"/>
            <a:ext cx="45720" cy="2560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0" name="Text 48"/>
          <p:cNvSpPr/>
          <p:nvPr/>
        </p:nvSpPr>
        <p:spPr>
          <a:xfrm>
            <a:off x="4937760" y="30540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gpa DESC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178040" y="30632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Büyükten küçüğe sırala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00600" y="3346704"/>
            <a:ext cx="4023360" cy="25603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53" name="Shape 51"/>
          <p:cNvSpPr/>
          <p:nvPr/>
        </p:nvSpPr>
        <p:spPr>
          <a:xfrm>
            <a:off x="4800600" y="3346704"/>
            <a:ext cx="45720" cy="2560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4" name="Text 52"/>
          <p:cNvSpPr/>
          <p:nvPr/>
        </p:nvSpPr>
        <p:spPr>
          <a:xfrm>
            <a:off x="4937760" y="336499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ad ASC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178040" y="337413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A'dan Z'ye sırala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00600" y="3657600"/>
            <a:ext cx="4023360" cy="25603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57" name="Shape 55"/>
          <p:cNvSpPr/>
          <p:nvPr/>
        </p:nvSpPr>
        <p:spPr>
          <a:xfrm>
            <a:off x="4800600" y="3657600"/>
            <a:ext cx="45720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8" name="Text 56"/>
          <p:cNvSpPr/>
          <p:nvPr/>
        </p:nvSpPr>
        <p:spPr>
          <a:xfrm>
            <a:off x="4937760" y="367588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178040" y="368503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10 kayıt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800600" y="3968496"/>
            <a:ext cx="4023360" cy="25603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61" name="Shape 59"/>
          <p:cNvSpPr/>
          <p:nvPr/>
        </p:nvSpPr>
        <p:spPr>
          <a:xfrm>
            <a:off x="4800600" y="3968496"/>
            <a:ext cx="4572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2" name="Text 60"/>
          <p:cNvSpPr/>
          <p:nvPr/>
        </p:nvSpPr>
        <p:spPr>
          <a:xfrm>
            <a:off x="4937760" y="398678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bolum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178040" y="399592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Bölüme göre grupla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00600" y="4279392"/>
            <a:ext cx="4023360" cy="25603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65" name="Shape 63"/>
          <p:cNvSpPr/>
          <p:nvPr/>
        </p:nvSpPr>
        <p:spPr>
          <a:xfrm>
            <a:off x="4800600" y="4279392"/>
            <a:ext cx="4572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6" name="Text 64"/>
          <p:cNvSpPr/>
          <p:nvPr/>
        </p:nvSpPr>
        <p:spPr>
          <a:xfrm>
            <a:off x="4937760" y="42976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 / AVG(gpa)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178040" y="430682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fonksiyonlar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0"/>
            <a:ext cx="3017520" cy="514350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457200"/>
            <a:ext cx="2286000" cy="228600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5 — Özet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33856"/>
            <a:ext cx="5486400" cy="475488"/>
          </a:xfrm>
          <a:prstGeom prst="rect">
            <a:avLst/>
          </a:prstGeom>
          <a:solidFill>
            <a:srgbClr val="152438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33856"/>
            <a:ext cx="64008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1704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sqlite3.connect()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380744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Diske/belleğe bağlanma, context manager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5486400" cy="475488"/>
          </a:xfrm>
          <a:prstGeom prst="rect">
            <a:avLst/>
          </a:prstGeom>
          <a:solidFill>
            <a:srgbClr val="152438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09928"/>
            <a:ext cx="64008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746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1956816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 tanımlama, veri tipleri, kısıtlar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486400" cy="475488"/>
          </a:xfrm>
          <a:prstGeom prst="rect">
            <a:avLst/>
          </a:prstGeom>
          <a:solidFill>
            <a:srgbClr val="152438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64008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3225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2532888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Tekli/çoklu ekleme, parametreli sorgu (?)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62072"/>
            <a:ext cx="5486400" cy="475488"/>
          </a:xfrm>
          <a:prstGeom prst="rect">
            <a:avLst/>
          </a:prstGeom>
          <a:solidFill>
            <a:srgbClr val="152438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62072"/>
            <a:ext cx="64008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8986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… WHERE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3108960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çekme, fetchall/fetchone, filtreleme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438144"/>
            <a:ext cx="5486400" cy="475488"/>
          </a:xfrm>
          <a:prstGeom prst="rect">
            <a:avLst/>
          </a:prstGeom>
          <a:solidFill>
            <a:srgbClr val="152438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438144"/>
            <a:ext cx="64008" cy="47548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474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… SET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3685032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 güncelleme, rowcount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14216"/>
            <a:ext cx="5486400" cy="475488"/>
          </a:xfrm>
          <a:prstGeom prst="rect">
            <a:avLst/>
          </a:prstGeom>
          <a:solidFill>
            <a:srgbClr val="152438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14216"/>
            <a:ext cx="64008" cy="4754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4050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" y="4261104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 silme, rollback ile geri alma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10058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263640" y="1783080"/>
            <a:ext cx="2606040" cy="384048"/>
          </a:xfrm>
          <a:prstGeom prst="rect">
            <a:avLst/>
          </a:prstGeom>
          <a:solidFill>
            <a:srgbClr val="152438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181051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PyQt5 + SQLite CRUD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2258568"/>
            <a:ext cx="2606040" cy="384048"/>
          </a:xfrm>
          <a:prstGeom prst="rect">
            <a:avLst/>
          </a:prstGeom>
          <a:solidFill>
            <a:srgbClr val="152438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22860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QTableWidget + DB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2734056"/>
            <a:ext cx="2606040" cy="384048"/>
          </a:xfrm>
          <a:prstGeom prst="rect">
            <a:avLst/>
          </a:prstGeom>
          <a:solidFill>
            <a:srgbClr val="152438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276148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Canlı Filtreleme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3209544"/>
            <a:ext cx="2606040" cy="384048"/>
          </a:xfrm>
          <a:prstGeom prst="rect">
            <a:avLst/>
          </a:prstGeom>
          <a:solidFill>
            <a:srgbClr val="152438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323697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Dışa Aktarma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3685032"/>
            <a:ext cx="2606040" cy="384048"/>
          </a:xfrm>
          <a:prstGeom prst="rect">
            <a:avLst/>
          </a:prstGeom>
          <a:solidFill>
            <a:srgbClr val="152438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371246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 Uygulama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  ·  Görsel Programlama (PyQt)  ·  Hafta 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Görsel Programlama - SQLite Temelleri Hafta 5</dc:title>
  <dc:subject>PptxGenJS Presentation</dc:subject>
  <dc:creator>PptxGenJS</dc:creator>
  <cp:lastModifiedBy>PptxGenJS</cp:lastModifiedBy>
  <cp:revision>1</cp:revision>
  <dcterms:created xsi:type="dcterms:W3CDTF">2026-03-16T21:59:28Z</dcterms:created>
  <dcterms:modified xsi:type="dcterms:W3CDTF">2026-03-16T21:59:28Z</dcterms:modified>
</cp:coreProperties>
</file>