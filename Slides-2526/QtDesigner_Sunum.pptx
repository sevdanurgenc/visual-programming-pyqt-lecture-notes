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6D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3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03920" y="0"/>
            <a:ext cx="3657600" cy="68580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199" y="1371600"/>
            <a:ext cx="801654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CBD5E1"/>
                </a:solidFill>
              </a:defRPr>
            </a:pPr>
            <a:endParaRPr dirty="0"/>
          </a:p>
          <a:p>
            <a:pPr>
              <a:defRPr sz="6400" b="1">
                <a:solidFill>
                  <a:srgbClr val="FFFFFF"/>
                </a:solidFill>
              </a:defRPr>
            </a:pPr>
            <a:r>
              <a:rPr sz="6400" b="1" dirty="0">
                <a:solidFill>
                  <a:srgbClr val="6B6DB2"/>
                </a:solidFill>
              </a:rPr>
              <a:t>Qt Designer </a:t>
            </a:r>
            <a:r>
              <a:rPr sz="6400" b="1" dirty="0" err="1">
                <a:solidFill>
                  <a:srgbClr val="6B6DB2"/>
                </a:solidFill>
              </a:rPr>
              <a:t>ile</a:t>
            </a:r>
            <a:r>
              <a:rPr lang="tr-TR" sz="6400" b="1" dirty="0">
                <a:solidFill>
                  <a:srgbClr val="6B6DB2"/>
                </a:solidFill>
              </a:rPr>
              <a:t> </a:t>
            </a:r>
            <a:r>
              <a:rPr dirty="0" err="1">
                <a:solidFill>
                  <a:srgbClr val="6B6DB2"/>
                </a:solidFill>
              </a:rPr>
              <a:t>Görsel</a:t>
            </a:r>
            <a:r>
              <a:rPr dirty="0">
                <a:solidFill>
                  <a:srgbClr val="6B6DB2"/>
                </a:solidFill>
              </a:rPr>
              <a:t> </a:t>
            </a:r>
            <a:r>
              <a:rPr dirty="0" err="1">
                <a:solidFill>
                  <a:srgbClr val="6B6DB2"/>
                </a:solidFill>
              </a:rPr>
              <a:t>Arayüz</a:t>
            </a:r>
            <a:r>
              <a:rPr lang="tr-TR" dirty="0">
                <a:solidFill>
                  <a:srgbClr val="6B6DB2"/>
                </a:solidFill>
              </a:rPr>
              <a:t> </a:t>
            </a:r>
            <a:r>
              <a:rPr dirty="0" err="1">
                <a:solidFill>
                  <a:srgbClr val="6B6DB2"/>
                </a:solidFill>
              </a:rPr>
              <a:t>Tasarımı</a:t>
            </a:r>
            <a:endParaRPr lang="tr-TR" dirty="0">
              <a:solidFill>
                <a:srgbClr val="6B6DB2"/>
              </a:solidFill>
            </a:endParaRPr>
          </a:p>
          <a:p>
            <a:pPr>
              <a:defRPr sz="6400" b="1">
                <a:solidFill>
                  <a:srgbClr val="FFFFFF"/>
                </a:solidFill>
              </a:defRPr>
            </a:pPr>
            <a:endParaRPr dirty="0">
              <a:solidFill>
                <a:srgbClr val="6B6DB2"/>
              </a:solidFill>
            </a:endParaRPr>
          </a:p>
          <a:p>
            <a:pPr>
              <a:defRPr sz="2200" b="1">
                <a:solidFill>
                  <a:srgbClr val="22D3EE"/>
                </a:solidFill>
              </a:defRPr>
            </a:pPr>
            <a:r>
              <a:rPr dirty="0"/>
              <a:t>Dr. </a:t>
            </a:r>
            <a:r>
              <a:rPr dirty="0" err="1"/>
              <a:t>Öğr</a:t>
            </a:r>
            <a:r>
              <a:rPr dirty="0"/>
              <a:t>. Üyesi </a:t>
            </a:r>
            <a:r>
              <a:rPr dirty="0" err="1"/>
              <a:t>Sevdanur</a:t>
            </a:r>
            <a:r>
              <a:rPr dirty="0"/>
              <a:t> GENÇ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Dr. Öğr. Üyesi Sevdanur GENÇ  ·  Görsel Programlama (PyQt5)  ·  Qt Designer Ders Notu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Qt Designer Nedir?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Kod yazmadan sürükle-bırak ile PyQt5 arayüzü tasarlayın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Dr. Öğr. Üyesi Sevdanur GENÇ  ·  Görsel Programlama (PyQt5)  ·  Qt Designer Ders Notu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00" cy="1280160"/>
          </a:xfrm>
          <a:prstGeom prst="rect">
            <a:avLst/>
          </a:prstGeom>
          <a:solidFill>
            <a:srgbClr val="121E30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rPr dirty="0"/>
              <a:t>Ne </a:t>
            </a:r>
            <a:r>
              <a:rPr dirty="0" err="1"/>
              <a:t>İşe</a:t>
            </a:r>
            <a:r>
              <a:rPr dirty="0"/>
              <a:t> Yarar?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rPr dirty="0"/>
              <a:t>Qt framework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birlikte</a:t>
            </a:r>
            <a:r>
              <a:rPr dirty="0"/>
              <a:t> </a:t>
            </a:r>
            <a:r>
              <a:rPr dirty="0" err="1"/>
              <a:t>gelen</a:t>
            </a:r>
            <a:r>
              <a:rPr dirty="0"/>
              <a:t> </a:t>
            </a:r>
            <a:r>
              <a:rPr dirty="0" err="1"/>
              <a:t>görsel</a:t>
            </a:r>
            <a:r>
              <a:rPr dirty="0"/>
              <a:t> </a:t>
            </a:r>
            <a:r>
              <a:rPr dirty="0" err="1"/>
              <a:t>arayüz</a:t>
            </a:r>
            <a:r>
              <a:rPr dirty="0"/>
              <a:t> </a:t>
            </a:r>
            <a:r>
              <a:rPr dirty="0" err="1"/>
              <a:t>tasarlama</a:t>
            </a:r>
            <a:r>
              <a:rPr dirty="0"/>
              <a:t> </a:t>
            </a:r>
            <a:r>
              <a:rPr dirty="0" err="1"/>
              <a:t>aracıdır</a:t>
            </a:r>
            <a:r>
              <a:rPr dirty="0"/>
              <a:t>. </a:t>
            </a:r>
            <a:r>
              <a:rPr dirty="0" err="1"/>
              <a:t>Widget'ları</a:t>
            </a:r>
            <a:r>
              <a:rPr dirty="0"/>
              <a:t> </a:t>
            </a:r>
            <a:r>
              <a:rPr dirty="0" err="1"/>
              <a:t>sürükleyip</a:t>
            </a:r>
            <a:r>
              <a:rPr dirty="0"/>
              <a:t> </a:t>
            </a:r>
            <a:r>
              <a:rPr dirty="0" err="1"/>
              <a:t>bırakarak</a:t>
            </a:r>
            <a:r>
              <a:rPr dirty="0"/>
              <a:t> </a:t>
            </a:r>
            <a:r>
              <a:rPr dirty="0" err="1"/>
              <a:t>pencere</a:t>
            </a:r>
            <a:r>
              <a:rPr dirty="0"/>
              <a:t> </a:t>
            </a:r>
            <a:r>
              <a:rPr dirty="0" err="1"/>
              <a:t>düzeni</a:t>
            </a:r>
            <a:r>
              <a:rPr dirty="0"/>
              <a:t> </a:t>
            </a:r>
            <a:r>
              <a:rPr dirty="0" err="1"/>
              <a:t>oluşturur</a:t>
            </a:r>
            <a:r>
              <a:rPr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5486400" cy="1280160"/>
          </a:xfrm>
          <a:prstGeom prst="rect">
            <a:avLst/>
          </a:prstGeom>
          <a:solidFill>
            <a:srgbClr val="121E30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t>Çıktısı Ne?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Tasarımı .ui uzantılı XML dosyasına kaydeder. Bu dosya Python koduna iki farklı yöntemle bağlanır.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5486400" cy="1280160"/>
          </a:xfrm>
          <a:prstGeom prst="rect">
            <a:avLst/>
          </a:prstGeom>
          <a:solidFill>
            <a:srgbClr val="121E3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Neden Kullanmalı?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Kod yazmadan layout oluşturma · Widget özelliklerini görsel olarak ayarlama · Hızlı prototipleme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486400" cy="4206240"/>
          </a:xfrm>
          <a:prstGeom prst="rect">
            <a:avLst/>
          </a:prstGeom>
          <a:solidFill>
            <a:srgbClr val="121E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463040"/>
            <a:ext cx="530352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rPr dirty="0" err="1"/>
              <a:t>Kod</a:t>
            </a:r>
            <a:r>
              <a:rPr dirty="0"/>
              <a:t> vs Qt Designer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❌ Elle </a:t>
            </a:r>
            <a:r>
              <a:rPr dirty="0" err="1">
                <a:solidFill>
                  <a:schemeClr val="bg1"/>
                </a:solidFill>
              </a:rPr>
              <a:t>Kod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form = </a:t>
            </a:r>
            <a:r>
              <a:rPr dirty="0" err="1">
                <a:solidFill>
                  <a:schemeClr val="bg1"/>
                </a:solidFill>
              </a:rPr>
              <a:t>QFormLayout</a:t>
            </a:r>
            <a:r>
              <a:rPr dirty="0">
                <a:solidFill>
                  <a:schemeClr val="bg1"/>
                </a:solidFill>
              </a:rPr>
              <a:t>()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lbl</a:t>
            </a:r>
            <a:r>
              <a:rPr dirty="0">
                <a:solidFill>
                  <a:schemeClr val="bg1"/>
                </a:solidFill>
              </a:rPr>
              <a:t> = </a:t>
            </a:r>
            <a:r>
              <a:rPr dirty="0" err="1">
                <a:solidFill>
                  <a:schemeClr val="bg1"/>
                </a:solidFill>
              </a:rPr>
              <a:t>QLabel</a:t>
            </a:r>
            <a:r>
              <a:rPr dirty="0">
                <a:solidFill>
                  <a:schemeClr val="bg1"/>
                </a:solidFill>
              </a:rPr>
              <a:t>('Ad:')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inp</a:t>
            </a:r>
            <a:r>
              <a:rPr dirty="0">
                <a:solidFill>
                  <a:schemeClr val="bg1"/>
                </a:solidFill>
              </a:rPr>
              <a:t> = </a:t>
            </a:r>
            <a:r>
              <a:rPr dirty="0" err="1">
                <a:solidFill>
                  <a:schemeClr val="bg1"/>
                </a:solidFill>
              </a:rPr>
              <a:t>QLineEdit</a:t>
            </a:r>
            <a:r>
              <a:rPr dirty="0">
                <a:solidFill>
                  <a:schemeClr val="bg1"/>
                </a:solidFill>
              </a:rPr>
              <a:t>()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form.addRow</a:t>
            </a:r>
            <a:r>
              <a:rPr dirty="0">
                <a:solidFill>
                  <a:schemeClr val="bg1"/>
                </a:solidFill>
              </a:rPr>
              <a:t>(</a:t>
            </a:r>
            <a:r>
              <a:rPr dirty="0" err="1">
                <a:solidFill>
                  <a:schemeClr val="bg1"/>
                </a:solidFill>
              </a:rPr>
              <a:t>lbl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inp</a:t>
            </a:r>
            <a:r>
              <a:rPr dirty="0">
                <a:solidFill>
                  <a:schemeClr val="bg1"/>
                </a:solidFill>
              </a:rPr>
              <a:t>)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✅ Qt Designer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Sürükle</a:t>
            </a:r>
            <a:r>
              <a:rPr dirty="0">
                <a:solidFill>
                  <a:schemeClr val="bg1"/>
                </a:solidFill>
              </a:rPr>
              <a:t> → </a:t>
            </a:r>
            <a:r>
              <a:rPr dirty="0" err="1">
                <a:solidFill>
                  <a:schemeClr val="bg1"/>
                </a:solidFill>
              </a:rPr>
              <a:t>QLabel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Sürükle</a:t>
            </a:r>
            <a:r>
              <a:rPr dirty="0">
                <a:solidFill>
                  <a:schemeClr val="bg1"/>
                </a:solidFill>
              </a:rPr>
              <a:t> → </a:t>
            </a:r>
            <a:r>
              <a:rPr dirty="0" err="1">
                <a:solidFill>
                  <a:schemeClr val="bg1"/>
                </a:solidFill>
              </a:rPr>
              <a:t>QLineEdit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QFormLayout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seç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Bitti! .</a:t>
            </a:r>
            <a:r>
              <a:rPr dirty="0" err="1">
                <a:solidFill>
                  <a:schemeClr val="bg1"/>
                </a:solidFill>
              </a:rPr>
              <a:t>ui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kaydedildi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Kurulum &amp; VS Code Entegrasyonu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Qt Designer'ı kurun ve VS Code ile bütünleştirin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Dr. Öğr. Üyesi Sevdanur GENÇ  ·  Görsel Programlama (PyQt5)  ·  Qt Designer Ders Notu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474720" cy="1828800"/>
          </a:xfrm>
          <a:prstGeom prst="rect">
            <a:avLst/>
          </a:prstGeom>
          <a:solidFill>
            <a:srgbClr val="121E30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rPr dirty="0"/>
              <a:t>1. PyQt5 </a:t>
            </a:r>
            <a:r>
              <a:rPr dirty="0" err="1"/>
              <a:t>Kurulumu</a:t>
            </a:r>
            <a:endParaRPr dirty="0"/>
          </a:p>
          <a:p>
            <a:pPr>
              <a:defRPr sz="1400">
                <a:solidFill>
                  <a:srgbClr val="CBD5E1"/>
                </a:solidFill>
              </a:defRPr>
            </a:pPr>
            <a:r>
              <a:rPr dirty="0"/>
              <a:t>pip install pyqt5</a:t>
            </a:r>
            <a:br>
              <a:rPr dirty="0"/>
            </a:br>
            <a:r>
              <a:rPr dirty="0"/>
              <a:t>pip install pyqt5-tools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474720" cy="1828800"/>
          </a:xfrm>
          <a:prstGeom prst="rect">
            <a:avLst/>
          </a:prstGeom>
          <a:solidFill>
            <a:srgbClr val="121E30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4630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rPr dirty="0"/>
              <a:t>2. Qt </a:t>
            </a:r>
            <a:r>
              <a:rPr dirty="0" err="1"/>
              <a:t>Designer'ı</a:t>
            </a:r>
            <a:r>
              <a:rPr dirty="0"/>
              <a:t> Bul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rPr dirty="0"/>
              <a:t>Windows:</a:t>
            </a:r>
            <a:br>
              <a:rPr dirty="0"/>
            </a:br>
            <a:r>
              <a:rPr dirty="0"/>
              <a:t>...\Lib\site-packages\qt5_applications\Qt\bin\designer.exe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63040"/>
            <a:ext cx="3474720" cy="1828800"/>
          </a:xfrm>
          <a:prstGeom prst="rect">
            <a:avLst/>
          </a:prstGeom>
          <a:solidFill>
            <a:srgbClr val="121E3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4630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3. VS Code Eklentisi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Extensions → "Qt for Python" (seanwu) →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5486400" cy="2286000"/>
          </a:xfrm>
          <a:prstGeom prst="rect">
            <a:avLst/>
          </a:prstGeom>
          <a:solidFill>
            <a:srgbClr val="121E3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.vscode/settings.json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{</a:t>
            </a:r>
            <a:br/>
            <a:r>
              <a:t>  "qtForPython.qmlls.enabled": false,</a:t>
            </a:r>
            <a:br/>
            <a:r>
              <a:t>  "qtForPython.designer.path": "C:/.../designer.exe"</a:t>
            </a:r>
            <a:br/>
            <a:r>
              <a:t>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566160"/>
            <a:ext cx="5394960" cy="2286000"/>
          </a:xfrm>
          <a:prstGeom prst="rect">
            <a:avLst/>
          </a:prstGeom>
          <a:solidFill>
            <a:srgbClr val="121E30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35661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rPr dirty="0"/>
              <a:t>VS </a:t>
            </a:r>
            <a:r>
              <a:rPr dirty="0" err="1"/>
              <a:t>Code'da</a:t>
            </a:r>
            <a:r>
              <a:rPr dirty="0"/>
              <a:t> </a:t>
            </a:r>
            <a:r>
              <a:rPr dirty="0" err="1"/>
              <a:t>Kullanım</a:t>
            </a:r>
            <a:endParaRPr dirty="0"/>
          </a:p>
          <a:p>
            <a:pPr>
              <a:defRPr sz="1400">
                <a:solidFill>
                  <a:srgbClr val="CBD5E1"/>
                </a:solidFill>
              </a:defRPr>
            </a:pPr>
            <a:r>
              <a:rPr dirty="0"/>
              <a:t>🖱️ .</a:t>
            </a:r>
            <a:r>
              <a:rPr dirty="0" err="1"/>
              <a:t>ui</a:t>
            </a:r>
            <a:r>
              <a:rPr dirty="0"/>
              <a:t> </a:t>
            </a:r>
            <a:r>
              <a:rPr dirty="0" err="1"/>
              <a:t>dosyasına</a:t>
            </a:r>
            <a:r>
              <a:rPr dirty="0"/>
              <a:t> </a:t>
            </a:r>
            <a:r>
              <a:rPr dirty="0" err="1"/>
              <a:t>sağ</a:t>
            </a:r>
            <a:r>
              <a:rPr dirty="0"/>
              <a:t> </a:t>
            </a:r>
            <a:r>
              <a:rPr dirty="0" err="1"/>
              <a:t>tıkla</a:t>
            </a:r>
            <a:r>
              <a:rPr dirty="0"/>
              <a:t> → 'Edit in Qt Designer'</a:t>
            </a:r>
            <a:br>
              <a:rPr dirty="0"/>
            </a:br>
            <a:r>
              <a:rPr dirty="0"/>
              <a:t>▶️ Terminal: python dosyam.py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çalıştır</a:t>
            </a:r>
            <a:br>
              <a:rPr dirty="0"/>
            </a:br>
            <a:r>
              <a:rPr dirty="0"/>
              <a:t>🔄 pyuic5 </a:t>
            </a:r>
            <a:r>
              <a:rPr dirty="0" err="1"/>
              <a:t>form.ui</a:t>
            </a:r>
            <a:r>
              <a:rPr dirty="0"/>
              <a:t> -o form_ui.py (</a:t>
            </a:r>
            <a:r>
              <a:rPr dirty="0" err="1"/>
              <a:t>dönüştür</a:t>
            </a:r>
            <a:r>
              <a:rPr dirty="0"/>
              <a:t>)</a:t>
            </a:r>
            <a:br>
              <a:rPr dirty="0"/>
            </a:br>
            <a:r>
              <a:rPr dirty="0"/>
              <a:t>💡 Python </a:t>
            </a:r>
            <a:r>
              <a:rPr dirty="0" err="1"/>
              <a:t>dosyası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.</a:t>
            </a:r>
            <a:r>
              <a:rPr dirty="0" err="1"/>
              <a:t>ui</a:t>
            </a:r>
            <a:r>
              <a:rPr dirty="0"/>
              <a:t>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klasörde</a:t>
            </a:r>
            <a:r>
              <a:rPr dirty="0"/>
              <a:t> </a:t>
            </a:r>
            <a:r>
              <a:rPr dirty="0" err="1"/>
              <a:t>olsun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Qt Designer Arayüzü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5 temel panel ve görevleri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Dr. Öğr. Üyesi Sevdanur GENÇ  ·  Görsel Programlama (PyQt5)  ·  Qt Designer Ders Notu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743200" cy="4389120"/>
          </a:xfrm>
          <a:prstGeom prst="rect">
            <a:avLst/>
          </a:prstGeom>
          <a:solidFill>
            <a:srgbClr val="121E30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rPr dirty="0"/>
              <a:t>① Widget Palette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rPr dirty="0"/>
              <a:t>Layouts, Spacers, Buttons, Item Widgets, Containers, Input Widgets...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463040"/>
            <a:ext cx="5029200" cy="4389120"/>
          </a:xfrm>
          <a:prstGeom prst="rect">
            <a:avLst/>
          </a:prstGeom>
          <a:solidFill>
            <a:srgbClr val="121E30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rPr dirty="0"/>
              <a:t>② Form Editor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rPr dirty="0"/>
              <a:t>Ana </a:t>
            </a:r>
            <a:r>
              <a:rPr dirty="0" err="1"/>
              <a:t>tasarım</a:t>
            </a:r>
            <a:r>
              <a:rPr dirty="0"/>
              <a:t> </a:t>
            </a:r>
            <a:r>
              <a:rPr dirty="0" err="1"/>
              <a:t>alanı</a:t>
            </a:r>
            <a:r>
              <a:rPr dirty="0"/>
              <a:t>. </a:t>
            </a:r>
            <a:r>
              <a:rPr dirty="0" err="1"/>
              <a:t>Sürükle</a:t>
            </a:r>
            <a:r>
              <a:rPr dirty="0"/>
              <a:t> </a:t>
            </a:r>
            <a:r>
              <a:rPr dirty="0" err="1"/>
              <a:t>bırak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widget'ların</a:t>
            </a:r>
            <a:r>
              <a:rPr dirty="0"/>
              <a:t> </a:t>
            </a:r>
            <a:r>
              <a:rPr dirty="0" err="1"/>
              <a:t>eklendiği</a:t>
            </a:r>
            <a:r>
              <a:rPr dirty="0"/>
              <a:t> </a:t>
            </a:r>
            <a:r>
              <a:rPr dirty="0" err="1"/>
              <a:t>pencere</a:t>
            </a:r>
            <a:r>
              <a:rPr dirty="0"/>
              <a:t> </a:t>
            </a:r>
            <a:r>
              <a:rPr dirty="0" err="1"/>
              <a:t>görünümü</a:t>
            </a:r>
            <a:r>
              <a:rPr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463040"/>
            <a:ext cx="2926080" cy="2103120"/>
          </a:xfrm>
          <a:prstGeom prst="rect">
            <a:avLst/>
          </a:prstGeom>
          <a:solidFill>
            <a:srgbClr val="121E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0" y="146304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rPr dirty="0"/>
              <a:t>③ Object Inspector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rPr dirty="0" err="1"/>
              <a:t>Hiyerarşik</a:t>
            </a:r>
            <a:r>
              <a:rPr dirty="0"/>
              <a:t> widget </a:t>
            </a:r>
            <a:r>
              <a:rPr dirty="0" err="1"/>
              <a:t>listesi</a:t>
            </a:r>
            <a:r>
              <a:rPr dirty="0"/>
              <a:t>.</a:t>
            </a:r>
            <a:br>
              <a:rPr dirty="0"/>
            </a:br>
            <a:r>
              <a:rPr dirty="0" err="1"/>
              <a:t>MainWindow</a:t>
            </a:r>
            <a:br>
              <a:rPr dirty="0"/>
            </a:br>
            <a:r>
              <a:rPr dirty="0"/>
              <a:t> ▾ </a:t>
            </a:r>
            <a:r>
              <a:rPr dirty="0" err="1"/>
              <a:t>centralwidget</a:t>
            </a:r>
            <a:br>
              <a:rPr dirty="0"/>
            </a:br>
            <a:r>
              <a:rPr dirty="0"/>
              <a:t>   ▾ </a:t>
            </a:r>
            <a:r>
              <a:rPr dirty="0" err="1"/>
              <a:t>formLayout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778240" y="3749039"/>
            <a:ext cx="2926080" cy="2103120"/>
          </a:xfrm>
          <a:prstGeom prst="rect">
            <a:avLst/>
          </a:prstGeom>
          <a:solidFill>
            <a:srgbClr val="121E30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0" y="3749039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472B6"/>
                </a:solidFill>
              </a:defRPr>
            </a:pPr>
            <a:r>
              <a:rPr dirty="0"/>
              <a:t>④ Property Editor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rPr dirty="0" err="1"/>
              <a:t>objectName</a:t>
            </a:r>
            <a:r>
              <a:rPr dirty="0"/>
              <a:t>: </a:t>
            </a:r>
            <a:r>
              <a:rPr dirty="0" err="1"/>
              <a:t>adInput</a:t>
            </a:r>
            <a:br>
              <a:rPr dirty="0"/>
            </a:br>
            <a:r>
              <a:rPr dirty="0"/>
              <a:t>text: ''</a:t>
            </a:r>
            <a:br>
              <a:rPr dirty="0"/>
            </a:br>
            <a:r>
              <a:rPr dirty="0"/>
              <a:t>font: Segoe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Widget Palette &amp; Property Editor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Sürükle-bırak ile widget ekle · Özellikleri görsel olarak ayarla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Dr. Öğr. Üyesi Sevdanur GENÇ  ·  Görsel Programlama (PyQt5)  ·  Qt Designer Ders Notu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00" cy="4389120"/>
          </a:xfrm>
          <a:prstGeom prst="rect">
            <a:avLst/>
          </a:prstGeom>
          <a:solidFill>
            <a:srgbClr val="121E30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rPr dirty="0"/>
              <a:t>Widget Palette — </a:t>
            </a:r>
            <a:r>
              <a:rPr dirty="0" err="1"/>
              <a:t>Kategoriler</a:t>
            </a:r>
            <a:endParaRPr dirty="0"/>
          </a:p>
          <a:p>
            <a:pPr>
              <a:defRPr sz="1400">
                <a:solidFill>
                  <a:srgbClr val="CBD5E1"/>
                </a:solidFill>
              </a:defRPr>
            </a:pPr>
            <a:r>
              <a:rPr dirty="0"/>
              <a:t>📐 Layouts: </a:t>
            </a:r>
            <a:r>
              <a:rPr dirty="0" err="1"/>
              <a:t>QHBoxLayout</a:t>
            </a:r>
            <a:r>
              <a:rPr dirty="0"/>
              <a:t>, </a:t>
            </a:r>
            <a:r>
              <a:rPr dirty="0" err="1"/>
              <a:t>QVBoxLayout</a:t>
            </a:r>
            <a:r>
              <a:rPr dirty="0"/>
              <a:t>, </a:t>
            </a:r>
            <a:r>
              <a:rPr dirty="0" err="1"/>
              <a:t>QGridLayout</a:t>
            </a:r>
            <a:br>
              <a:rPr dirty="0"/>
            </a:br>
            <a:r>
              <a:rPr dirty="0"/>
              <a:t>🔘 Buttons: </a:t>
            </a:r>
            <a:r>
              <a:rPr dirty="0" err="1"/>
              <a:t>QPushButton</a:t>
            </a:r>
            <a:r>
              <a:rPr dirty="0"/>
              <a:t>, </a:t>
            </a:r>
            <a:r>
              <a:rPr dirty="0" err="1"/>
              <a:t>QRadioButton</a:t>
            </a:r>
            <a:r>
              <a:rPr dirty="0"/>
              <a:t>, </a:t>
            </a:r>
            <a:r>
              <a:rPr dirty="0" err="1"/>
              <a:t>QCheckBox</a:t>
            </a:r>
            <a:br>
              <a:rPr dirty="0"/>
            </a:br>
            <a:r>
              <a:rPr dirty="0"/>
              <a:t>📝 Input Widgets: </a:t>
            </a:r>
            <a:r>
              <a:rPr dirty="0" err="1"/>
              <a:t>QLineEdit</a:t>
            </a:r>
            <a:r>
              <a:rPr dirty="0"/>
              <a:t>, </a:t>
            </a:r>
            <a:r>
              <a:rPr dirty="0" err="1"/>
              <a:t>QComboBox</a:t>
            </a:r>
            <a:r>
              <a:rPr dirty="0"/>
              <a:t>, </a:t>
            </a:r>
            <a:r>
              <a:rPr dirty="0" err="1"/>
              <a:t>QSpinBox</a:t>
            </a:r>
            <a:br>
              <a:rPr dirty="0"/>
            </a:br>
            <a:r>
              <a:rPr dirty="0"/>
              <a:t>📋 Item Widgets: </a:t>
            </a:r>
            <a:r>
              <a:rPr dirty="0" err="1"/>
              <a:t>QTableWidget</a:t>
            </a:r>
            <a:r>
              <a:rPr dirty="0"/>
              <a:t>, </a:t>
            </a:r>
            <a:r>
              <a:rPr dirty="0" err="1"/>
              <a:t>QListWidget</a:t>
            </a:r>
            <a:br>
              <a:rPr dirty="0"/>
            </a:br>
            <a:r>
              <a:rPr dirty="0"/>
              <a:t>🖼 Display: </a:t>
            </a:r>
            <a:r>
              <a:rPr dirty="0" err="1"/>
              <a:t>QLabel</a:t>
            </a:r>
            <a:r>
              <a:rPr dirty="0"/>
              <a:t>, </a:t>
            </a:r>
            <a:r>
              <a:rPr dirty="0" err="1"/>
              <a:t>QLCDNumber</a:t>
            </a:r>
            <a:r>
              <a:rPr dirty="0"/>
              <a:t>, </a:t>
            </a:r>
            <a:r>
              <a:rPr dirty="0" err="1"/>
              <a:t>QProgressBar</a:t>
            </a:r>
            <a:br>
              <a:rPr dirty="0"/>
            </a:br>
            <a:r>
              <a:rPr dirty="0"/>
              <a:t>📦 Containers: </a:t>
            </a:r>
            <a:r>
              <a:rPr dirty="0" err="1"/>
              <a:t>QGroupBox</a:t>
            </a:r>
            <a:r>
              <a:rPr dirty="0"/>
              <a:t>, </a:t>
            </a:r>
            <a:r>
              <a:rPr dirty="0" err="1"/>
              <a:t>QTabWidget</a:t>
            </a:r>
            <a:r>
              <a:rPr dirty="0"/>
              <a:t>, </a:t>
            </a:r>
            <a:r>
              <a:rPr dirty="0" err="1"/>
              <a:t>QFrame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4389120"/>
          </a:xfrm>
          <a:prstGeom prst="rect">
            <a:avLst/>
          </a:prstGeom>
          <a:solidFill>
            <a:srgbClr val="121E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rPr dirty="0"/>
              <a:t>Property Editor (Örn: </a:t>
            </a:r>
            <a:r>
              <a:rPr dirty="0" err="1"/>
              <a:t>QPushButton</a:t>
            </a:r>
            <a:r>
              <a:rPr dirty="0"/>
              <a:t>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rPr dirty="0" err="1"/>
              <a:t>objectName</a:t>
            </a:r>
            <a:r>
              <a:rPr dirty="0"/>
              <a:t>: </a:t>
            </a:r>
            <a:r>
              <a:rPr dirty="0" err="1"/>
              <a:t>ekleBtn</a:t>
            </a:r>
            <a:br>
              <a:rPr dirty="0"/>
            </a:br>
            <a:r>
              <a:rPr dirty="0"/>
              <a:t>text: '➕ Ekle'</a:t>
            </a:r>
            <a:br>
              <a:rPr dirty="0"/>
            </a:br>
            <a:r>
              <a:rPr dirty="0"/>
              <a:t>enabled: True</a:t>
            </a:r>
            <a:br>
              <a:rPr dirty="0"/>
            </a:br>
            <a:r>
              <a:rPr dirty="0" err="1"/>
              <a:t>minimumSize</a:t>
            </a:r>
            <a:r>
              <a:rPr dirty="0"/>
              <a:t>: [120 x 36]</a:t>
            </a:r>
            <a:br>
              <a:rPr dirty="0"/>
            </a:br>
            <a:r>
              <a:rPr dirty="0" err="1"/>
              <a:t>toolTip</a:t>
            </a:r>
            <a:r>
              <a:rPr dirty="0"/>
              <a:t>: '</a:t>
            </a:r>
            <a:r>
              <a:rPr dirty="0" err="1"/>
              <a:t>Kişiyi</a:t>
            </a:r>
            <a:r>
              <a:rPr dirty="0"/>
              <a:t> </a:t>
            </a:r>
            <a:r>
              <a:rPr dirty="0" err="1"/>
              <a:t>ekle</a:t>
            </a:r>
            <a:r>
              <a:rPr dirty="0"/>
              <a:t>'</a:t>
            </a:r>
            <a:br>
              <a:rPr dirty="0"/>
            </a:br>
            <a:r>
              <a:rPr dirty="0"/>
              <a:t>font: Segoe UI, 12, Bold</a:t>
            </a:r>
            <a:br>
              <a:rPr dirty="0"/>
            </a:br>
            <a:r>
              <a:rPr dirty="0" err="1"/>
              <a:t>styleSheet</a:t>
            </a:r>
            <a:r>
              <a:rPr dirty="0"/>
              <a:t>: background: #22C55E</a:t>
            </a:r>
            <a:br>
              <a:rPr dirty="0"/>
            </a:br>
            <a:r>
              <a:rPr dirty="0"/>
              <a:t>shortcut: </a:t>
            </a:r>
            <a:r>
              <a:rPr dirty="0" err="1"/>
              <a:t>Ctrl+Return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Qt Designer'da Layout Yönetimi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Sağ tıkla → Layout → Seç · Resize ile otomatik ölçekleme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Dr. Öğr. Üyesi Sevdanur GENÇ  ·  Görsel Programlama (PyQt5)  ·  Qt Designer Ders Notu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560320" cy="1828800"/>
          </a:xfrm>
          <a:prstGeom prst="rect">
            <a:avLst/>
          </a:prstGeom>
          <a:solidFill>
            <a:srgbClr val="121E30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↔ QHBoxLayout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Widget'ları yatay sıralar.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63040"/>
            <a:ext cx="2560320" cy="1828800"/>
          </a:xfrm>
          <a:prstGeom prst="rect">
            <a:avLst/>
          </a:prstGeom>
          <a:solidFill>
            <a:srgbClr val="121E30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t>↕ QVBoxLayout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Widget'ları dikey sıralar.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560320" cy="1828800"/>
          </a:xfrm>
          <a:prstGeom prst="rect">
            <a:avLst/>
          </a:prstGeom>
          <a:solidFill>
            <a:srgbClr val="121E3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⊞ QGridLayout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Satır-sütun ızgara düzeni.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463040"/>
            <a:ext cx="2560320" cy="1828800"/>
          </a:xfrm>
          <a:prstGeom prst="rect">
            <a:avLst/>
          </a:prstGeom>
          <a:solidFill>
            <a:srgbClr val="121E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1463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≡ QFormLayout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Etiket-giriş çiftleri formu.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5394960" cy="2286000"/>
          </a:xfrm>
          <a:prstGeom prst="rect">
            <a:avLst/>
          </a:prstGeom>
          <a:solidFill>
            <a:srgbClr val="121E30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5661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472B6"/>
                </a:solidFill>
              </a:defRPr>
            </a:pPr>
            <a:r>
              <a:t>Spacer — Boşluk Kontrolü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Horizontal Spacer: Yatay boşluk — widget'ları iki yana iter.</a:t>
            </a:r>
            <a:br/>
            <a:r>
              <a:t>Vertical Spacer: Dikey boşluk — widget'ları üst/alta iter.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5303520" cy="2286000"/>
          </a:xfrm>
          <a:prstGeom prst="rect">
            <a:avLst/>
          </a:prstGeom>
          <a:solidFill>
            <a:srgbClr val="121E3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35661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Designer'da Layout Adımları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1️⃣ Sürükle-bırak</a:t>
            </a:r>
            <a:br/>
            <a:r>
              <a:t>2️⃣ Birden fazla widget seç (Ctrl+tıkla)</a:t>
            </a:r>
            <a:br/>
            <a:r>
              <a:t>3️⃣ Sağ tıkla → Layout → Seç</a:t>
            </a:r>
            <a:br/>
            <a:r>
              <a:t>4️⃣ Boşluğa sağ tıkla → Lay Out Vertically</a:t>
            </a:r>
            <a:br/>
            <a:r>
              <a:t>5️⃣ Pencereyi otomatik ölçeklendir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Signal &amp; Slot Editor + Object Inspector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Designer'da sinyal-slot · Hiyerarşik nesne görünümü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Dr. Öğr. Üyesi Sevdanur GENÇ  ·  Görsel Programlama (PyQt5)  ·  Qt Designer Ders Notu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00" cy="4389120"/>
          </a:xfrm>
          <a:prstGeom prst="rect">
            <a:avLst/>
          </a:prstGeom>
          <a:solidFill>
            <a:srgbClr val="121E30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472B6"/>
                </a:solidFill>
              </a:defRPr>
            </a:pPr>
            <a:r>
              <a:t>⑤ Signal &amp; Slot Editor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Basit sinyal-slot bağlantıları kurulabilir.</a:t>
            </a:r>
            <a:br/>
            <a:r>
              <a:t>Karmaşık mantık için Python tercih edilir.</a:t>
            </a:r>
            <a:br/>
            <a:br/>
            <a:r>
              <a:t>Sender: ekleBtn</a:t>
            </a:r>
            <a:br/>
            <a:r>
              <a:t>Signal: clicked()</a:t>
            </a:r>
            <a:br/>
            <a:r>
              <a:t>Receiver: MainWindow</a:t>
            </a:r>
            <a:br/>
            <a:r>
              <a:t>Slot: accept()</a:t>
            </a:r>
            <a:br/>
            <a:br/>
            <a:r>
              <a:t>⚠️ Designer Sınırı → Python'da kurulur:</a:t>
            </a:r>
            <a:br/>
            <a:r>
              <a:t>self.ekleBtn.clicked.connect(self._ekle)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4389120"/>
          </a:xfrm>
          <a:prstGeom prst="rect">
            <a:avLst/>
          </a:prstGeom>
          <a:solidFill>
            <a:srgbClr val="121E3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78BFA"/>
                </a:solidFill>
              </a:defRPr>
            </a:pPr>
            <a:r>
              <a:t>③ Object Inspector — Widget Hiyerarşisi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Tüm widget'ların ağaç yapısını gösterir.</a:t>
            </a:r>
            <a:br/>
            <a:br/>
            <a:r>
              <a:t>▾ MainWindow (QMainWindow)</a:t>
            </a:r>
            <a:br/>
            <a:r>
              <a:t>  ▾ centralwidget (QWidget)</a:t>
            </a:r>
            <a:br/>
            <a:r>
              <a:t>    ▾ anaLayout (QVBoxLayout)</a:t>
            </a:r>
            <a:br/>
            <a:r>
              <a:t>      ▾ formGrup (QGroupBox)</a:t>
            </a:r>
            <a:br/>
            <a:r>
              <a:t>        adLabel (QLabel)</a:t>
            </a:r>
            <a:br/>
            <a:r>
              <a:t>        adInput (QLineEdit)</a:t>
            </a:r>
            <a:br/>
            <a:r>
              <a:t>        ekleBtn (QPushButton)</a:t>
            </a:r>
            <a:br/>
            <a:br/>
            <a:r>
              <a:t>💡 objectName → Python'da self.isim olarak erişilir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.ui Dosyasını Python'a Bağlama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İki yöntem: uic.loadUi() vs pyuic5 dönüştürme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Dr. Öğr. Üyesi Sevdanur GENÇ  ·  Görsel Programlama (PyQt5)  ·  Qt Designer Ders Notu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00" cy="4389120"/>
          </a:xfrm>
          <a:prstGeom prst="rect">
            <a:avLst/>
          </a:prstGeom>
          <a:solidFill>
            <a:srgbClr val="121E3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✅ Yöntem 1 — uic.loadUi() (Önerilen)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Çalışma zamanında .ui yüklenir.</a:t>
            </a:r>
            <a:br/>
            <a:br/>
            <a:r>
              <a:t>from PyQt5 import uic</a:t>
            </a:r>
            <a:br/>
            <a:r>
              <a:t>from PyQt5.QtWidgets import QApplication, QMainWindow</a:t>
            </a:r>
            <a:br/>
            <a:br/>
            <a:r>
              <a:t>class AnaPencere(QMainWindow):</a:t>
            </a:r>
            <a:br/>
            <a:r>
              <a:t>    def __init__(self):</a:t>
            </a:r>
            <a:br/>
            <a:r>
              <a:t>        super().__init__()</a:t>
            </a:r>
            <a:br/>
            <a:r>
              <a:t>        uic.loadUi('form.ui', self)</a:t>
            </a:r>
            <a:br/>
            <a:r>
              <a:t>        self.ekleBtn.clicked.connect(self._ekle)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4389120"/>
          </a:xfrm>
          <a:prstGeom prst="rect">
            <a:avLst/>
          </a:prstGeom>
          <a:solidFill>
            <a:srgbClr val="121E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🔧 Yöntem 2 — pyuic5 Dönüştürme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form.ui → form_ui.py olarak dönüştürülür.</a:t>
            </a:r>
            <a:br/>
            <a:br/>
            <a:r>
              <a:t># Terminalde:</a:t>
            </a:r>
            <a:br/>
            <a:r>
              <a:t>pyuic5 form.ui -o form_ui.py</a:t>
            </a:r>
            <a:br/>
            <a:br/>
            <a:r>
              <a:t># Python'da:</a:t>
            </a:r>
            <a:br/>
            <a:r>
              <a:t>from form_ui import Ui_MainWindow</a:t>
            </a:r>
            <a:br/>
            <a:r>
              <a:t>from PyQt5.QtWidgets import QMainWindow</a:t>
            </a:r>
            <a:br/>
            <a:br/>
            <a:r>
              <a:t>class AnaPencere(QMainWindow, Ui_MainWindow):</a:t>
            </a:r>
            <a:br/>
            <a:r>
              <a:t>    def __init__(self):</a:t>
            </a:r>
            <a:br/>
            <a:r>
              <a:t>        super().__init__()</a:t>
            </a:r>
            <a:br/>
            <a:r>
              <a:t>        self.setupUi(self)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Widget'lara Python'dan Erişim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objectName → self.isim · Değer okuma/yazma metodları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Dr. Öğr. Üyesi Sevdanur GENÇ  ·  Görsel Programlama (PyQt5)  ·  Qt Designer Ders Notu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00" cy="4389120"/>
          </a:xfrm>
          <a:prstGeom prst="rect">
            <a:avLst/>
          </a:prstGeom>
          <a:solidFill>
            <a:srgbClr val="121E30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t>objectName → self.widgetAdı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Designer (objectName)  →  Python</a:t>
            </a:r>
            <a:br/>
            <a:r>
              <a:t>adInput              →  self.adInput</a:t>
            </a:r>
            <a:br/>
            <a:r>
              <a:t>ekleBtn              →  self.ekleBtn</a:t>
            </a:r>
            <a:br/>
            <a:r>
              <a:t>kisilerTablosu       →  self.kisilerTablosu</a:t>
            </a:r>
            <a:br/>
            <a:r>
              <a:t>grupCombo            →  self.grupCombo</a:t>
            </a:r>
            <a:br/>
            <a:r>
              <a:t>statusBar            →  self.statusBar()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4389120"/>
          </a:xfrm>
          <a:prstGeom prst="rect">
            <a:avLst/>
          </a:prstGeom>
          <a:solidFill>
            <a:srgbClr val="121E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Değer Okuma &amp; Yazma Metodları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self.adInput.text()       # değer oku</a:t>
            </a:r>
            <a:br/>
            <a:r>
              <a:t>self.adInput.setText('Ali') # değer yaz</a:t>
            </a:r>
            <a:br/>
            <a:r>
              <a:t>self.adInput.clear()      # temizle</a:t>
            </a:r>
            <a:br/>
            <a:br/>
            <a:r>
              <a:t>self.grupCombo.currentText()</a:t>
            </a:r>
            <a:br/>
            <a:r>
              <a:t>self.durumLabel.setText('Eklendi!')</a:t>
            </a:r>
            <a:br/>
            <a:br/>
            <a:r>
              <a:t>self.ekleBtn.setEnabled(False)</a:t>
            </a:r>
            <a:br/>
            <a:r>
              <a:t>self.favoriCheck.isChecked()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Örnek Uygulama — Kişi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kisi_rehberi.ui + kisi_rehberi.py · 5 adımda tamamlayın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Dr. Öğr. Üyesi Sevdanur GENÇ  ·  Görsel Programlama (PyQt5)  ·  Qt Designer Ders Notu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solidFill>
            <a:srgbClr val="121E3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78BFA"/>
                </a:solidFill>
              </a:defRPr>
            </a:pPr>
            <a:r>
              <a:t>5 Adım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1️⃣ Designer'da Açın  →  2️⃣ Widget'ları Düzenleyin  →  3️⃣ objectName Verin  →  4️⃣ uic.loadUi() Bağlayın  →  5️⃣ Sinyal-Slot Kurun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5486400" cy="3108960"/>
          </a:xfrm>
          <a:prstGeom prst="rect">
            <a:avLst/>
          </a:prstGeom>
          <a:solidFill>
            <a:srgbClr val="121E3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kisi_rehberi.ui Tasarımı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• QLineEdit: adInput, soyadInput</a:t>
            </a:r>
            <a:br/>
            <a:r>
              <a:t>• QPushButton: ekleBtn</a:t>
            </a:r>
            <a:br/>
            <a:r>
              <a:t>• QTableWidget: kisilerTablosu</a:t>
            </a:r>
            <a:br/>
            <a:r>
              <a:t>• Layout: QFormLayout (Sol), QVBoxLayout (Genel)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5486400" cy="3108960"/>
          </a:xfrm>
          <a:prstGeom prst="rect">
            <a:avLst/>
          </a:prstGeom>
          <a:solidFill>
            <a:srgbClr val="121E30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kisi_rehberi.py Özeti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class KisiRehberi(QMainWindow):</a:t>
            </a:r>
            <a:br/>
            <a:r>
              <a:t>    def __init__(self):</a:t>
            </a:r>
            <a:br/>
            <a:r>
              <a:t>        uic.loadUi('kisi_rehberi.ui', self)</a:t>
            </a:r>
            <a:br/>
            <a:r>
              <a:t>        self.ekleBtn.clicked.connect(self._ekle)</a:t>
            </a:r>
            <a:br/>
            <a:br/>
            <a:r>
              <a:t>    def _ekle(self):</a:t>
            </a:r>
            <a:br/>
            <a:r>
              <a:t>        ad = self.adInput.text()</a:t>
            </a:r>
            <a:br/>
            <a:r>
              <a:t>        # SQL veya Listeye kaydet...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 İyi Pratikler &amp; Sık Hatalar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Qt Designer ile verimli çalışma rehberi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Dr. Öğr. Üyesi Sevdanur GENÇ  ·  Görsel Programlama (PyQt5)  ·  Qt Designer Ders Notu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00" cy="4389120"/>
          </a:xfrm>
          <a:prstGeom prst="rect">
            <a:avLst/>
          </a:prstGeom>
          <a:solidFill>
            <a:srgbClr val="121E3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✅ En İyi Pratikler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• objectName açıklayıcı olsun (adInput ✅ lineEdit_1 ❌)</a:t>
            </a:r>
            <a:br/>
            <a:r>
              <a:t>• Tek sorumluluk: .ui → tasarım / .py → mantık</a:t>
            </a:r>
            <a:br/>
            <a:r>
              <a:t>• Layout mutlaka kullanın (Sabit x,y kullanmayın)</a:t>
            </a:r>
            <a:br/>
            <a:r>
              <a:t>• Sinyal-Slot'u Python'da kurun</a:t>
            </a:r>
            <a:br/>
            <a:r>
              <a:t>• uic.loadUi geliştirme için, pyuic5 dağıtım için idealdir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4389120"/>
          </a:xfrm>
          <a:prstGeom prst="rect">
            <a:avLst/>
          </a:prstGeom>
          <a:solidFill>
            <a:srgbClr val="121E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❌ Sık Yapılan Hatalar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• FileNotFoundError: .ui ve .py aynı klasörde olmalı.</a:t>
            </a:r>
            <a:br/>
            <a:r>
              <a:t>• AttributeError: Designer'da objectName kontrol edin.</a:t>
            </a:r>
            <a:br/>
            <a:r>
              <a:t>• Widget görünmüyor: Layout uygulandığından emin olun.</a:t>
            </a:r>
            <a:br/>
            <a:r>
              <a:t>• Pencere boyutu değişince bozuluyor: x,y yerine Layout kullanın.</a:t>
            </a:r>
            <a:br/>
            <a:r>
              <a:t>• Designer açılmıyor: pyqt5-tools kurun.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Özet &amp; Hızlı Referans Kartı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Qt Designer ile PyQt5 — tüm kavramlar bir bakışta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Dr. Öğr. Üyesi Sevdanur GENÇ  ·  Görsel Programlama (PyQt5)  ·  Qt Designer Ders Notu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474720" cy="1828800"/>
          </a:xfrm>
          <a:prstGeom prst="rect">
            <a:avLst/>
          </a:prstGeom>
          <a:solidFill>
            <a:srgbClr val="121E30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① Kurulum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pip install pyqt5 pyqt5-tools</a:t>
            </a:r>
            <a:br/>
            <a:r>
              <a:t>VS Code: Qt for 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474720" cy="1828800"/>
          </a:xfrm>
          <a:prstGeom prst="rect">
            <a:avLst/>
          </a:prstGeom>
          <a:solidFill>
            <a:srgbClr val="121E30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4630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t>② 5 Panel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Widget Palette, Form Editor, Object Inspector, Property Editor, Signal&amp;Slot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63040"/>
            <a:ext cx="3474720" cy="1828800"/>
          </a:xfrm>
          <a:prstGeom prst="rect">
            <a:avLst/>
          </a:prstGeom>
          <a:solidFill>
            <a:srgbClr val="121E3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4630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③ Layout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QHBoxLayout, QVBoxLayout, QGridLayout, QFormLayout, Spacer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3474720" cy="2194560"/>
          </a:xfrm>
          <a:prstGeom prst="rect">
            <a:avLst/>
          </a:prstGeom>
          <a:solidFill>
            <a:srgbClr val="121E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④ Bağlama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uic.loadUi('form.ui', self)</a:t>
            </a:r>
            <a:br/>
            <a:r>
              <a:t>veya: pyuic5 form.ui -o form_ui.py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657600"/>
            <a:ext cx="3474720" cy="2194560"/>
          </a:xfrm>
          <a:prstGeom prst="rect">
            <a:avLst/>
          </a:prstGeom>
          <a:solidFill>
            <a:srgbClr val="121E30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365760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472B6"/>
                </a:solidFill>
              </a:defRPr>
            </a:pPr>
            <a:r>
              <a:t>⑤ Erişim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objectName → self.isim</a:t>
            </a:r>
            <a:br/>
            <a:r>
              <a:t>self.adInput.text()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657600"/>
            <a:ext cx="3474720" cy="2194560"/>
          </a:xfrm>
          <a:prstGeom prst="rect">
            <a:avLst/>
          </a:prstGeom>
          <a:solidFill>
            <a:srgbClr val="121E3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365760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78BFA"/>
                </a:solidFill>
              </a:defRPr>
            </a:pPr>
            <a:r>
              <a:t>⑥ Sinyal-Slot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self.btn.clicked.connect(fn)</a:t>
            </a:r>
            <a:br/>
            <a:r>
              <a:t>self.inp.textChanged.connect(fn)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1658</Words>
  <Application>Microsoft Office PowerPoint</Application>
  <PresentationFormat>Widescreen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Nano</cp:lastModifiedBy>
  <cp:revision>5</cp:revision>
  <dcterms:created xsi:type="dcterms:W3CDTF">2013-01-27T09:14:16Z</dcterms:created>
  <dcterms:modified xsi:type="dcterms:W3CDTF">2026-04-27T20:27:59Z</dcterms:modified>
  <cp:category/>
</cp:coreProperties>
</file>